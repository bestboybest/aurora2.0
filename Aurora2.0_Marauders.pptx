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1b07c3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a1b07c3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94c2307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94c2307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c7c40d8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bc7c40d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99bf9e0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b99bf9e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99bf9e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99bf9e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bc7c40d8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bc7c40d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bc7c40d8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bc7c40d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bc7c40d88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bc7c40d88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b99bf9e0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b99bf9e0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b99bf9e0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b99bf9e0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99bf9e0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b99bf9e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99bf9e0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b99bf9e0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99bf9e0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b99bf9e0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b99bf9e0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b99bf9e0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463546" y="850891"/>
            <a:ext cx="8709900" cy="19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00"/>
              <a:t>AURORA 2.0</a:t>
            </a:r>
            <a:endParaRPr sz="9400"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06012" y="2930950"/>
            <a:ext cx="87099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Advanced Underground Resource Observation &amp; Remote Analysis</a:t>
            </a:r>
            <a:endParaRPr b="1"/>
          </a:p>
        </p:txBody>
      </p:sp>
      <p:sp>
        <p:nvSpPr>
          <p:cNvPr id="59" name="Google Shape;59;p13"/>
          <p:cNvSpPr txBox="1"/>
          <p:nvPr/>
        </p:nvSpPr>
        <p:spPr>
          <a:xfrm>
            <a:off x="393375" y="3915167"/>
            <a:ext cx="843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Team: Marauders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Members: Vasudev Sajeev, Disha Hebbar, V Kavyanjali, Sahana Bhagwat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215250" y="211350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0" y="353425"/>
            <a:ext cx="85206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STATEMENT</a:t>
            </a:r>
            <a:endParaRPr sz="2800"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1700" y="1071900"/>
            <a:ext cx="8520600" cy="1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Mining Activity Monitoring using Sentinel-2 Time Series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574000" y="3092850"/>
            <a:ext cx="646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52900" y="2957925"/>
            <a:ext cx="8140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Design an intelligent system that automatically detects, quantifies, and monitors excavation activity over time within a legally defined mining area and identifies violations within designated no-go zones, using Sentinel-2 imagery</a:t>
            </a:r>
            <a:endParaRPr sz="23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65575" y="2239800"/>
            <a:ext cx="201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</a:rPr>
              <a:t>OBJECTIVE :</a:t>
            </a:r>
            <a:endParaRPr b="1"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368009" y="321826"/>
            <a:ext cx="2494200" cy="6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909975"/>
            <a:ext cx="8520600" cy="3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→</a:t>
            </a:r>
            <a:r>
              <a:rPr b="1" lang="en" sz="2100"/>
              <a:t> Sentinel-2 Level-2A imagery</a:t>
            </a:r>
            <a:r>
              <a:rPr lang="en" sz="2100"/>
              <a:t> (multispectral, multi-temporal) covering the Area of Interest (AOI). Data can be accessed through Copernicus browser.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→</a:t>
            </a:r>
            <a:r>
              <a:rPr b="1" lang="en" sz="2100"/>
              <a:t> Legal Mine Boundary (Polygon)</a:t>
            </a:r>
            <a:r>
              <a:rPr lang="en" sz="2100"/>
              <a:t> Includes both currently active mining zones and permissible but not yet excavated areas.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→</a:t>
            </a:r>
            <a:r>
              <a:rPr b="1" lang="en" sz="2500"/>
              <a:t> </a:t>
            </a:r>
            <a:r>
              <a:rPr b="1" lang="en" sz="2100"/>
              <a:t>No-Go Zone Boundary (Polygon) -</a:t>
            </a:r>
            <a:r>
              <a:rPr lang="en" sz="2100"/>
              <a:t> Areas where mining is strictly prohibited (e.g., forest buffers, water bodies, habitations, eco-sensitive zones). Use of synthetic dummy polygons from within the known mined area of past few years from datasets shared.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39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SENTINEL-2 SPECIFICATIONS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Spatial Resolution: 10m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Temporal Resolution: 5 days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Bands Used: B2, B4, B8, B11, B12, Scene Classification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(SCL)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Coverage: 2017-present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Data Source: Google Earth Engine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 title="trainin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50" y="70500"/>
            <a:ext cx="8258875" cy="500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monitorin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25" y="42775"/>
            <a:ext cx="7996599" cy="505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7372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/>
              <a:t>CLOUD MASKING WITH SENTINEL-2 SCL</a:t>
            </a:r>
            <a:endParaRPr sz="2800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946425"/>
            <a:ext cx="8520600" cy="3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/>
              <a:t>To ensure reliable spectral-temporal analysis, contaminated pixels were removed using Sentinel-2 Scene Classification Layer before feature extraction. We removed pixels with SCL of 3, 8, 9, 10 and 11.</a:t>
            </a:r>
            <a:endParaRPr b="1" sz="1400"/>
          </a:p>
        </p:txBody>
      </p:sp>
      <p:pic>
        <p:nvPicPr>
          <p:cNvPr id="101" name="Google Shape;101;p19" title="Screenshot 2026-01-24 1629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25" y="1900450"/>
            <a:ext cx="4182450" cy="2778025"/>
          </a:xfrm>
          <a:prstGeom prst="rect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600" y="1849100"/>
            <a:ext cx="3234974" cy="27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339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64225"/>
            <a:ext cx="4260300" cy="18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SPECTRAL INDICES</a:t>
            </a:r>
            <a:endParaRPr b="1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NDVI - Vegetation health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B11/B12 - Shortwave infrared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BSI - Bare soil index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NBR - Normalized burn ratio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NDMI - Moisture index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4572000" y="1086375"/>
            <a:ext cx="41322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TEMPORAL STATISTICS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r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- Rolling median (60-day)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r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- NDVI variance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r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- NBR slope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r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- Captures persistent excavation patterns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11" name="Google Shape;111;p20"/>
          <p:cNvCxnSpPr/>
          <p:nvPr/>
        </p:nvCxnSpPr>
        <p:spPr>
          <a:xfrm>
            <a:off x="4546950" y="1085075"/>
            <a:ext cx="11700" cy="184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0"/>
          <p:cNvCxnSpPr/>
          <p:nvPr/>
        </p:nvCxnSpPr>
        <p:spPr>
          <a:xfrm flipH="1" rot="10800000">
            <a:off x="307960" y="3139991"/>
            <a:ext cx="8502000" cy="47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01800" y="3648100"/>
            <a:ext cx="8502000" cy="8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Goal: Extract </a:t>
            </a:r>
            <a:r>
              <a:rPr b="1" lang="en"/>
              <a:t>spectral</a:t>
            </a:r>
            <a:r>
              <a:rPr b="1" lang="en"/>
              <a:t> and temporal features to differentiate permanent excavation from non-excavation and seasonal changes.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379178"/>
            <a:ext cx="8769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/>
              <a:t>CLUSTERING &amp; META-CLUSTERING</a:t>
            </a:r>
            <a:endParaRPr sz="2900"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Approach</a:t>
            </a:r>
            <a:r>
              <a:rPr lang="en"/>
              <a:t>: </a:t>
            </a:r>
            <a:r>
              <a:rPr lang="en"/>
              <a:t>Unsupervised</a:t>
            </a:r>
            <a:r>
              <a:rPr lang="en"/>
              <a:t> Learning using K-Means Clustering without requirement of excavation data.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Pixels are clustered by spectral-temporal similarity (K = 6).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Cluster centroids are meta-clustered (K = 2) to separate excavation and non-excavation.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use RobustScaler for scaling before clustering, which is robust against outliers. A small numerical stabilization is applied only during meta-clustering to prevent water/shadow from dominating the meta-clustering.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87350" y="261728"/>
            <a:ext cx="8769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EXCAVATION SCORE &amp; CLUSTER PRUNING</a:t>
            </a:r>
            <a:endParaRPr sz="2600"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900425"/>
            <a:ext cx="8520600" cy="38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</a:t>
            </a:r>
            <a:r>
              <a:rPr b="1" lang="en"/>
              <a:t>  Excavation Score = 2 * B12 + 1 * BSI - 0.5 * NDVI - 1 * NDMI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Above excavation score assigns excavation likelihood scores to meta-clusters to interpret clusters in a physically meaningful way and identify the meta-cluster corresponding to excavation. The score emphasizes exposed rock and penalizes vegetation and moisture.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then perform cluster pruning, to suppress non-excavation clusters like bare soil and other weak transient signals.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identify the strongest excavation cluster pe</a:t>
            </a:r>
            <a:r>
              <a:rPr lang="en"/>
              <a:t>r mi</a:t>
            </a:r>
            <a:r>
              <a:rPr lang="en"/>
              <a:t>ne using our excavation score. We allow secondary clusters to remain excavated only if they are spectrally similar to the leader cluster.</a:t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263425" y="367428"/>
            <a:ext cx="8769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/>
              <a:t>TEMPORAL CONFIDENCE SYSTEM</a:t>
            </a:r>
            <a:endParaRPr sz="2800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006125"/>
            <a:ext cx="8520600" cy="4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Excavation causes permanent spectral change, whereas seasonal changes are temporary. </a:t>
            </a:r>
            <a:r>
              <a:rPr lang="en"/>
              <a:t>Each pixel accumulates confidence as it remains in an excavation-like state.</a:t>
            </a:r>
            <a:r>
              <a:rPr lang="en"/>
              <a:t> </a:t>
            </a:r>
            <a:r>
              <a:rPr lang="en"/>
              <a:t>Temporary reversions reset confidence, while masked observations pause accumulation.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Pixels are confirmed as excavated only after sustained temporal persistence.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Retro-confirmation backdates this confirmed excavation to its first detection. </a:t>
            </a:r>
            <a:r>
              <a:rPr lang="en"/>
              <a:t>This removes confirmation latency while preserving temporal robustness in spatial and temporal outputs.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Candidate pixels indicate early excavation signals prior to confirmation.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store these candidate, confirmed and </a:t>
            </a:r>
            <a:r>
              <a:rPr lang="en"/>
              <a:t>retro-confirmed</a:t>
            </a:r>
            <a:r>
              <a:rPr lang="en"/>
              <a:t> rasters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261728"/>
            <a:ext cx="8769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GENERATING OUTPUTS</a:t>
            </a:r>
            <a:endParaRPr sz="2700"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900425"/>
            <a:ext cx="8520600" cy="4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Spatial Outputs: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Per-date excavation maps overlaid on satellite imagery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Legal mine boundaries and no-go zones highlighted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Blue regions indicate excavated areas, while yellow outlines denote no-go zones.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Analytics: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Excavated area vs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Excavation growth 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Normalized excavation intensity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Alert logs for no-go zones</a:t>
            </a:r>
            <a:endParaRPr b="1"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775" y="2060800"/>
            <a:ext cx="3620174" cy="28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355678"/>
            <a:ext cx="8769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/>
              <a:t>NO-GO ZONE ANALYSIS</a:t>
            </a:r>
            <a:endParaRPr sz="2900"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60250"/>
            <a:ext cx="85206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check for spatial intersection between excavated regions and no-go zones.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quantify the area of excavation occurring inside no-go zones.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three-level alert system is used for regulatory monitoring.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1: </a:t>
            </a:r>
            <a:r>
              <a:rPr lang="en"/>
              <a:t>Early warning triggered when candidate excavation is detected inside no-go zones.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2: </a:t>
            </a:r>
            <a:r>
              <a:rPr lang="en"/>
              <a:t>Confirmed violation when excavation persists inside no-go zones.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 3: </a:t>
            </a:r>
            <a:r>
              <a:rPr lang="en"/>
              <a:t>Escalation triggered by sustained or expanding excavation within no-go zones.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26"/>
          <p:cNvSpPr txBox="1"/>
          <p:nvPr>
            <p:ph type="title"/>
          </p:nvPr>
        </p:nvSpPr>
        <p:spPr>
          <a:xfrm>
            <a:off x="187350" y="261728"/>
            <a:ext cx="8769300" cy="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LIMITATIONS AND FUTURE SCOPE</a:t>
            </a:r>
            <a:endParaRPr sz="2600"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Limitations: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Pixel-level analysis at 10 m resolution can introduce uncertainty near mine and no-go zone boundaries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Temporal confirmation introduces a short delay before excavation is formally confirmed.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Reliance on optical imagery limits update frequency during prolonged cloud cover.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Future scope: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Fusion with Sentinel-1 SAR data to improve robustness under cloud cover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Adaptive parameter selection based on mine-specific data distributions.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Incorporation of spatial context to improve boundary and region-level understanding.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>
            <a:off x="201975" y="204325"/>
            <a:ext cx="8713500" cy="4720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2323975" y="1954075"/>
            <a:ext cx="4759500" cy="21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900"/>
              <a:t>THANK YOU</a:t>
            </a:r>
            <a:endParaRPr sz="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